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1920240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>
                <a:solidFill>
                  <a:srgbClr val="FFFFFF"/>
                </a:solidFill>
              </a:rPr>
              <a:t>Predicción de variables meteorológicas usando una PINN
basada en las ecuaciones de Navier-Stokes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0000"/>
                </a:solidFill>
              </a:rPr>
              <a:t>S. Alejandro Gómez Ardila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4048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44444"/>
                </a:solidFill>
              </a:rPr>
              <a:t>Universidad Central  ·  Facultad de Ingeniería y Ciencias Básicas
Maestría en Analítica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754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44444"/>
                </a:solidFill>
              </a:rPr>
              <a:t>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0D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" y="652881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44444"/>
                </a:solidFill>
              </a:rPr>
              <a:t>S. A. Gómez Ardila  (Universidad Central)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52881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44444"/>
                </a:solidFill>
              </a:rPr>
              <a:t>Predicción PINN Meteorología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52881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444444"/>
                </a:solidFill>
              </a:rPr>
              <a:t>2026    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700">
                <a:solidFill>
                  <a:srgbClr val="FFFFFF"/>
                </a:solidFill>
              </a:rPr>
              <a:t>Contenido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2000">
                <a:solidFill>
                  <a:srgbClr val="4A6F1A"/>
                </a:solidFill>
              </a:rPr>
              <a:t>Introducción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4A6F1A"/>
                </a:solidFill>
              </a:rPr>
              <a:t>Planteamiento del Problema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4A6F1A"/>
                </a:solidFill>
              </a:rPr>
              <a:t>Objetivos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4A6F1A"/>
                </a:solidFill>
              </a:rPr>
              <a:t>Antecedentes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4A6F1A"/>
                </a:solidFill>
              </a:rPr>
              <a:t>Marco Teórico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4A6F1A"/>
                </a:solidFill>
              </a:rPr>
              <a:t>Metodología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4A6F1A"/>
                </a:solidFill>
              </a:rPr>
              <a:t>Resultados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4A6F1A"/>
                </a:solidFill>
              </a:rPr>
              <a:t>Discusión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4A6F1A"/>
                </a:solidFill>
              </a:rPr>
              <a:t>Conclusiones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4A6F1A"/>
                </a:solidFill>
              </a:rPr>
              <a:t>Trabajo Futuro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0D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652881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44444"/>
                </a:solidFill>
              </a:rPr>
              <a:t>S. A. Gómez Ardila  (Universidad Central)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52881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44444"/>
                </a:solidFill>
              </a:rPr>
              <a:t>Predicción PINN Meteorología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2881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444444"/>
                </a:solidFill>
              </a:rPr>
              <a:t>2026    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700">
                <a:solidFill>
                  <a:srgbClr val="FFFFFF"/>
                </a:solidFill>
              </a:rPr>
              <a:t>Introducción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384048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FFFFFF"/>
                </a:solidFill>
              </a:rPr>
              <a:t>El desafío de la predicción atmosférica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81328"/>
            <a:ext cx="11430000" cy="713232"/>
          </a:xfrm>
          <a:prstGeom prst="rect">
            <a:avLst/>
          </a:prstGeom>
          <a:solidFill>
            <a:srgbClr val="F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La atmósfera es un sistema caótico gobernado por ecuaciones no lineales,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donde pequeñas variaciones generan divergencias significativas (efecto mariposa).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>
                <a:solidFill>
                  <a:srgbClr val="000000"/>
                </a:solidFill>
              </a:rPr>
              <a:t>•  Nuevas fuentes de datos masivos: satélites, boyas, radares (ERA5, GOES)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000000"/>
                </a:solidFill>
              </a:rPr>
              <a:t>•  Limitación: métodos tradicionales requieren alto costo computacional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000000"/>
                </a:solidFill>
              </a:rPr>
              <a:t>•  Oportunidad: Redes Neuronales Físicamente Informadas (PINNs)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0D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" y="652881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44444"/>
                </a:solidFill>
              </a:rPr>
              <a:t>S. A. Gómez Ardila  (Universidad Central)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52881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44444"/>
                </a:solidFill>
              </a:rPr>
              <a:t>Predicción PINN Meteorología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52881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444444"/>
                </a:solidFill>
              </a:rPr>
              <a:t>2026    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700">
                <a:solidFill>
                  <a:srgbClr val="FFFFFF"/>
                </a:solidFill>
              </a:rPr>
              <a:t>Planteamiento del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38404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FFFFFF"/>
                </a:solidFill>
              </a:rPr>
              <a:t>El problema en la región Caribe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81328"/>
            <a:ext cx="11430000" cy="713232"/>
          </a:xfrm>
          <a:prstGeom prst="rect">
            <a:avLst/>
          </a:prstGeom>
          <a:solidFill>
            <a:srgbClr val="F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18 estaciones meteorológicas distribuidas en 404,7 km × 252,2 km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Densidad: 1,8 estaciones por 10.000 km²  ⇒  insuficiente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>
                <a:solidFill>
                  <a:srgbClr val="000000"/>
                </a:solidFill>
              </a:rPr>
              <a:t>•  Datos dispersos no describen el estado continuo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000000"/>
                </a:solidFill>
              </a:rPr>
              <a:t>•  Vacíos de información en zonas sin instrumentación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000000"/>
                </a:solidFill>
              </a:rPr>
              <a:t>•  Necesidad de estimar presión y viento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0D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" y="652881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44444"/>
                </a:solidFill>
              </a:rPr>
              <a:t>S. A. Gómez Ardila  (Universidad Central)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52881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44444"/>
                </a:solidFill>
              </a:rPr>
              <a:t>Predicción PINN Meteorología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52881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444444"/>
                </a:solidFill>
              </a:rPr>
              <a:t>2026    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700">
                <a:solidFill>
                  <a:srgbClr val="FFFFFF"/>
                </a:solidFill>
              </a:rPr>
              <a:t>Pregunta de Investigación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10881360" cy="384048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FFFFFF"/>
                </a:solidFill>
              </a:rPr>
              <a:t>Pregunta central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29968"/>
            <a:ext cx="10881360" cy="1901952"/>
          </a:xfrm>
          <a:prstGeom prst="rect">
            <a:avLst/>
          </a:prstGeom>
          <a:solidFill>
            <a:srgbClr val="F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¿Cómo construir un modelo basado en PINNs que, a partir de registros meteorológicos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dispersos y de las ecuaciones de Navier-Stokes, permita estimar la presión y las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componentes del viento sobre una malla espacio-temporal en puntos donde no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existen estaciones de medición?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0D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" y="652881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44444"/>
                </a:solidFill>
              </a:rPr>
              <a:t>S. A. Gómez Ardila  (Universidad Central)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52881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44444"/>
                </a:solidFill>
              </a:rPr>
              <a:t>Predicción PINN Meteorología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2881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444444"/>
                </a:solidFill>
              </a:rPr>
              <a:t>2026    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700">
                <a:solidFill>
                  <a:srgbClr val="FFFFFF"/>
                </a:solidFill>
              </a:rPr>
              <a:t>Objetivos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384048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FFFFFF"/>
                </a:solidFill>
              </a:rPr>
              <a:t>Objetivo General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81328"/>
            <a:ext cx="11430000" cy="987552"/>
          </a:xfrm>
          <a:prstGeom prst="rect">
            <a:avLst/>
          </a:prstGeom>
          <a:solidFill>
            <a:srgbClr val="F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Desarrollar una PINN basada en ecuaciones de Navier-Stokes y registros de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estaciones meteorológicas para estimar presión y componentes del viento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sobre una malla espacio-temporal en el litoral Caribe.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651760"/>
            <a:ext cx="11430000" cy="384048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FFFFFF"/>
                </a:solidFill>
              </a:rPr>
              <a:t>Objetivos Específicos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035808"/>
            <a:ext cx="11430000" cy="1536192"/>
          </a:xfrm>
          <a:prstGeom prst="rect">
            <a:avLst/>
          </a:prstGeom>
          <a:solidFill>
            <a:srgbClr val="F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①  Organizar y preprocesar datos de estaciones del IDEAM (diciembre 2025)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②  Diseñar una PINN que incorpore restricciones de N-S en su función de pérdida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③  Evaluar desempeño mediante métricas estándar (RMSE, MAE, R²) en datos de prueba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0D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44444"/>
                </a:solidFill>
              </a:rPr>
              <a:t>S. A. Gómez Ardila  (Universidad Central)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2881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44444"/>
                </a:solidFill>
              </a:rPr>
              <a:t>Predicción PINN Meteorología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52881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444444"/>
                </a:solidFill>
              </a:rPr>
              <a:t>2026    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700">
                <a:solidFill>
                  <a:srgbClr val="FFFFFF"/>
                </a:solidFill>
              </a:rPr>
              <a:t>Antecedentes: Métodos Tradicionales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384048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FFFFFF"/>
                </a:solidFill>
              </a:rPr>
              <a:t>Modelos Numéricos (NWP)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81328"/>
            <a:ext cx="11430000" cy="1353312"/>
          </a:xfrm>
          <a:prstGeom prst="rect">
            <a:avLst/>
          </a:prstGeom>
          <a:solidFill>
            <a:srgbClr val="F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Resuelven Navier-Stokes en mallas de alta resolución (~9 km).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• Costo: 2.5 millones horas CPU/día (ECMWF)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• Ventana: predicción ≈ 10 días (sensibilidad caótica)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• Limitación: necesita condiciones iniciales altamente precisas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017520"/>
            <a:ext cx="11430000" cy="384048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FFFFFF"/>
                </a:solidFill>
              </a:rPr>
              <a:t>Métodos Estadísticos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401568"/>
            <a:ext cx="11430000" cy="1353312"/>
          </a:xfrm>
          <a:prstGeom prst="rect">
            <a:avLst/>
          </a:prstGeom>
          <a:solidFill>
            <a:srgbClr val="F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ARIMA, Procesos Gaussianos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• Eficaces a corto plazo (&lt;72 horas)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• Desconectados de física fundamental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• Fallan ante eventos extremos sin precedentes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0D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44444"/>
                </a:solidFill>
              </a:rPr>
              <a:t>S. A. Gómez Ardila  (Universidad Central)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2881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44444"/>
                </a:solidFill>
              </a:rPr>
              <a:t>Predicción PINN Meteorología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52881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444444"/>
                </a:solidFill>
              </a:rPr>
              <a:t>2026    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700">
                <a:solidFill>
                  <a:srgbClr val="FFFFFF"/>
                </a:solidFill>
              </a:rPr>
              <a:t>Antecedentes: Enfoques Modernos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384048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FFFFFF"/>
                </a:solidFill>
              </a:rPr>
              <a:t>Machine Learning Convencional (GraphCast, FourCastNet)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81328"/>
            <a:ext cx="11430000" cy="1353312"/>
          </a:xfrm>
          <a:prstGeom prst="rect">
            <a:avLst/>
          </a:prstGeom>
          <a:solidFill>
            <a:srgbClr val="F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• Rápidos: predicciones en minutos (vs. horas en NWP)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• Entrenados con décadas de datos ERA5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• Inconsistencias físicas: ~5% violación de energía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• Caja negra: imposible explicabilidad física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017520"/>
            <a:ext cx="11430000" cy="384048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FFFFFF"/>
                </a:solidFill>
              </a:rPr>
              <a:t>Redes Neuronales Informadas por Física (PINNs)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401568"/>
            <a:ext cx="11430000" cy="1353312"/>
          </a:xfrm>
          <a:prstGeom prst="rect">
            <a:avLst/>
          </a:prstGeom>
          <a:solidFill>
            <a:srgbClr val="F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Paradigma híbrido: celeridad del ML + rigor de EDP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• 30% más precisión que NWP en casos críticos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• Garantiza coherencia física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• Requiere menos datos (conocimiento físico como regularizador)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0D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44444"/>
                </a:solidFill>
              </a:rPr>
              <a:t>S. A. Gómez Ardila  (Universidad Central)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2881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44444"/>
                </a:solidFill>
              </a:rPr>
              <a:t>Predicción PINN Meteorología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52881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444444"/>
                </a:solidFill>
              </a:rPr>
              <a:t>2026    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700">
                <a:solidFill>
                  <a:srgbClr val="FFFFFF"/>
                </a:solidFill>
              </a:rPr>
              <a:t>Marco Teórico: Ecuaciones de Navier-Stokes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Conservación de momento y continuidad en fluidos viscosos: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</a:rPr>
              <a:t>ρ ( ∂u/∂t  +  u · ∇u )  =  −∇p  +  μ∇²u  +  f</a:t>
            </a:r>
          </a:p>
          <a:p>
            <a:pPr algn="ctr"/>
            <a:r>
              <a:rPr sz="2400" b="1">
                <a:solidFill>
                  <a:srgbClr val="000000"/>
                </a:solidFill>
              </a:rPr>
              <a:t>∇ · u  = 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Donde:  u = velocidad,  p = presión,  ρ = densidad,  f = fuerzas externas (Coriolis).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840480"/>
            <a:ext cx="11430000" cy="384048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FFFFFF"/>
                </a:solidFill>
              </a:rPr>
              <a:t>Reto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224528"/>
            <a:ext cx="11430000" cy="530352"/>
          </a:xfrm>
          <a:prstGeom prst="rect">
            <a:avLst/>
          </a:prstGeom>
          <a:solidFill>
            <a:srgbClr val="F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El término convectivo (u · ∇u) introduce no linealidad que dificulta soluciones analíticas.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0D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652881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44444"/>
                </a:solidFill>
              </a:rPr>
              <a:t>S. A. Gómez Ardila  (Universidad Central)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2881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44444"/>
                </a:solidFill>
              </a:rPr>
              <a:t>Predicción PINN Meteorología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52881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444444"/>
                </a:solidFill>
              </a:rPr>
              <a:t>2026    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700">
                <a:solidFill>
                  <a:srgbClr val="FFFFFF"/>
                </a:solidFill>
              </a:rPr>
              <a:t>PINNs: Redes Neuronales Informadas por Física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384048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FFFFFF"/>
                </a:solidFill>
              </a:rPr>
              <a:t>Concepto clave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81328"/>
            <a:ext cx="11430000" cy="804672"/>
          </a:xfrm>
          <a:prstGeom prst="rect">
            <a:avLst/>
          </a:prstGeom>
          <a:solidFill>
            <a:srgbClr val="F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Las PINNs codifican ecuaciones diferenciales parciales directamente en su función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de pérdida, garantizando que las predicciones respeten leyes físicas.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>
                <a:solidFill>
                  <a:srgbClr val="4A6F1A"/>
                </a:solidFill>
              </a:rPr>
              <a:t>•  Combinan datos observados con restricciones físicas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4A6F1A"/>
                </a:solidFill>
              </a:rPr>
              <a:t>•  No requieren volúmenes masivos de datos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4A6F1A"/>
                </a:solidFill>
              </a:rPr>
              <a:t>•  Conocimiento físico actúa como regularizador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4A6F1A"/>
                </a:solidFill>
              </a:rPr>
              <a:t>•  30% más precisión que NWP en casos de intensificación rápida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0D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" y="652881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44444"/>
                </a:solidFill>
              </a:rPr>
              <a:t>S. A. Gómez Ardila  (Universidad Central)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52881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44444"/>
                </a:solidFill>
              </a:rPr>
              <a:t>Predicción PINN Meteorología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52881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444444"/>
                </a:solidFill>
              </a:rPr>
              <a:t>2026    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700">
                <a:solidFill>
                  <a:srgbClr val="FFFFFF"/>
                </a:solidFill>
              </a:rPr>
              <a:t>Formulación: Función de Pérdida Híbrida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Una PINN minimiza una función de pérdida que combina dos términos: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</a:rPr>
              <a:t>ℒ_total  =  ℒ_data  +  λ · ℒ_physics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468880"/>
            <a:ext cx="11430000" cy="384048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FFFFFF"/>
                </a:solidFill>
              </a:rPr>
              <a:t>Término de datos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852928"/>
            <a:ext cx="11430000" cy="713232"/>
          </a:xfrm>
          <a:prstGeom prst="rect">
            <a:avLst/>
          </a:prstGeom>
          <a:solidFill>
            <a:srgbClr val="F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ℒ_data = (1/N) Σᵢ ‖û(xᵢ,yᵢ,tᵢ) − u_obs(xᵢ,yᵢ,tᵢ)‖²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Diferencia entre predicciones y observaciones de estaciones.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703320"/>
            <a:ext cx="11430000" cy="384048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FFFFFF"/>
                </a:solidFill>
              </a:rPr>
              <a:t>Término físico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087368"/>
            <a:ext cx="11430000" cy="713232"/>
          </a:xfrm>
          <a:prstGeom prst="rect">
            <a:avLst/>
          </a:prstGeom>
          <a:solidFill>
            <a:srgbClr val="F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ℒ_physics = (1/M) Σⱼ ‖NS_residual(xⱼ,yⱼ,tⱼ)‖²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Residual de Navier-Stokes en malla de colocación (garantiza coherencia física).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892040"/>
            <a:ext cx="11430000" cy="38404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FFFFFF"/>
                </a:solidFill>
              </a:rPr>
              <a:t>Hiperparámetro crítico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276088"/>
            <a:ext cx="11430000" cy="393192"/>
          </a:xfrm>
          <a:prstGeom prst="rect">
            <a:avLst/>
          </a:prstGeom>
          <a:solidFill>
            <a:srgbClr val="F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λ = peso del término físico  (barrido: λ ∈ {1, 3, 5, 10})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0D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" y="652881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44444"/>
                </a:solidFill>
              </a:rPr>
              <a:t>S. A. Gómez Ardila  (Universidad Central)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52881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44444"/>
                </a:solidFill>
              </a:rPr>
              <a:t>Predicción PINN Meteorología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52881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444444"/>
                </a:solidFill>
              </a:rPr>
              <a:t>2026    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700">
                <a:solidFill>
                  <a:srgbClr val="FFFFFF"/>
                </a:solidFill>
              </a:rPr>
              <a:t>Metodología: Datos y Dominio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384048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FFFFFF"/>
                </a:solidFill>
              </a:rPr>
              <a:t>Datos de entrada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81328"/>
            <a:ext cx="11430000" cy="987552"/>
          </a:xfrm>
          <a:prstGeom prst="rect">
            <a:avLst/>
          </a:prstGeom>
          <a:solidFill>
            <a:srgbClr val="F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Estaciones meteorológicas IDEAM, región Caribe, diciembre 2025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Variables: Lat/Long, tiempo, velocidad/dirección viento, presión, temperatura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Volumen: 16.368 registros horarios de 22 estaciones (18 validadas)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651760"/>
            <a:ext cx="11430000" cy="384048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FFFFFF"/>
                </a:solidFill>
              </a:rPr>
              <a:t>Dominio espacial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035808"/>
            <a:ext cx="11430000" cy="1444752"/>
          </a:xfrm>
          <a:prstGeom prst="rect">
            <a:avLst/>
          </a:prstGeom>
          <a:solidFill>
            <a:srgbClr val="F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Latitud        7,475° N  a  11,115° N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Longitud      76,224° O  a  73,926° O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Extensión N-S  404,7 km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Extensión E-O  252,2 km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0D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44444"/>
                </a:solidFill>
              </a:rPr>
              <a:t>S. A. Gómez Ardila  (Universidad Central)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2881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44444"/>
                </a:solidFill>
              </a:rPr>
              <a:t>Predicción PINN Meteorología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52881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444444"/>
                </a:solidFill>
              </a:rPr>
              <a:t>2026    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700">
                <a:solidFill>
                  <a:srgbClr val="FFFFFF"/>
                </a:solidFill>
              </a:rPr>
              <a:t>Metodología: Barrido de Hiperparámetros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384048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FFFFFF"/>
                </a:solidFill>
              </a:rPr>
              <a:t>Configuración experimental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81328"/>
            <a:ext cx="11430000" cy="1444752"/>
          </a:xfrm>
          <a:prstGeom prst="rect">
            <a:avLst/>
          </a:prstGeom>
          <a:solidFill>
            <a:srgbClr val="F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• Epochs: 2.000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• Learning rate: 1×10⁻⁴ con ReduceLROnPlateau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• Datos por estación: 300 registros (5.400 totales)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• Malla de colocación: 304 puntos (R=0,1)  ó  44 puntos (R=0,4)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108960"/>
            <a:ext cx="11430000" cy="384048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FFFFFF"/>
                </a:solidFill>
              </a:rPr>
              <a:t>Variables barridas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493008"/>
            <a:ext cx="11430000" cy="804672"/>
          </a:xfrm>
          <a:prstGeom prst="rect">
            <a:avLst/>
          </a:prstGeom>
          <a:solidFill>
            <a:srgbClr val="F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Resolución de malla  R ∈ {0,1 ; 0,4}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Peso físico  λ ∈ {1, 3, 5, 10}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0D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44444"/>
                </a:solidFill>
              </a:rPr>
              <a:t>S. A. Gómez Ardila  (Universidad Central)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2881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44444"/>
                </a:solidFill>
              </a:rPr>
              <a:t>Predicción PINN Meteorología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52881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444444"/>
                </a:solidFill>
              </a:rPr>
              <a:t>2026    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700">
                <a:solidFill>
                  <a:srgbClr val="FFFFFF"/>
                </a:solidFill>
              </a:rPr>
              <a:t>Resultados: Desempeño Comparativo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384048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FFFFFF"/>
                </a:solidFill>
              </a:rPr>
              <a:t>Mejor modelo: todos_R01_L5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81328"/>
            <a:ext cx="11430000" cy="393192"/>
          </a:xfrm>
          <a:prstGeom prst="rect">
            <a:avLst/>
          </a:prstGeom>
          <a:solidFill>
            <a:srgbClr val="F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Resolución R = 0,1,  λ = 5,  datos completos (~744 reg/est)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011680"/>
            <a:ext cx="2743200" cy="384048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Modelo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2011680"/>
            <a:ext cx="1371600" cy="384048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Loss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2011680"/>
            <a:ext cx="1371600" cy="384048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MSE_ux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2011680"/>
            <a:ext cx="1371600" cy="384048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MSE_uy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2011680"/>
            <a:ext cx="1371600" cy="384048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MSE_p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2011680"/>
            <a:ext cx="1371600" cy="384048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R_NS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95728"/>
            <a:ext cx="2743200" cy="384048"/>
          </a:xfrm>
          <a:prstGeom prst="rect">
            <a:avLst/>
          </a:prstGeom>
          <a:solidFill>
            <a:srgbClr val="F5F0D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6F1A"/>
                </a:solidFill>
              </a:rPr>
              <a:t>todos_R01_L5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395728"/>
            <a:ext cx="1371600" cy="384048"/>
          </a:xfrm>
          <a:prstGeom prst="rect">
            <a:avLst/>
          </a:prstGeom>
          <a:solidFill>
            <a:srgbClr val="F5F0D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6F1A"/>
                </a:solidFill>
              </a:rPr>
              <a:t>0,9261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2395728"/>
            <a:ext cx="1371600" cy="384048"/>
          </a:xfrm>
          <a:prstGeom prst="rect">
            <a:avLst/>
          </a:prstGeom>
          <a:solidFill>
            <a:srgbClr val="F5F0D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6F1A"/>
                </a:solidFill>
              </a:rPr>
              <a:t>0,4633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395728"/>
            <a:ext cx="1371600" cy="384048"/>
          </a:xfrm>
          <a:prstGeom prst="rect">
            <a:avLst/>
          </a:prstGeom>
          <a:solidFill>
            <a:srgbClr val="F5F0D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6F1A"/>
                </a:solidFill>
              </a:rPr>
              <a:t>0,4347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2395728"/>
            <a:ext cx="1371600" cy="384048"/>
          </a:xfrm>
          <a:prstGeom prst="rect">
            <a:avLst/>
          </a:prstGeom>
          <a:solidFill>
            <a:srgbClr val="F5F0D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6F1A"/>
                </a:solidFill>
              </a:rPr>
              <a:t>1,3688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2395728"/>
            <a:ext cx="1371600" cy="384048"/>
          </a:xfrm>
          <a:prstGeom prst="rect">
            <a:avLst/>
          </a:prstGeom>
          <a:solidFill>
            <a:srgbClr val="F5F0D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B6F1A"/>
                </a:solidFill>
              </a:rPr>
              <a:t>0,01273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79776"/>
            <a:ext cx="2743200" cy="384048"/>
          </a:xfrm>
          <a:prstGeom prst="rect">
            <a:avLst/>
          </a:prstGeom>
          <a:solidFill>
            <a:srgbClr val="EBE7D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300xest_R01_L5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2779776"/>
            <a:ext cx="1371600" cy="384048"/>
          </a:xfrm>
          <a:prstGeom prst="rect">
            <a:avLst/>
          </a:prstGeom>
          <a:solidFill>
            <a:srgbClr val="EBE7D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1,1207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2779776"/>
            <a:ext cx="1371600" cy="384048"/>
          </a:xfrm>
          <a:prstGeom prst="rect">
            <a:avLst/>
          </a:prstGeom>
          <a:solidFill>
            <a:srgbClr val="EBE7D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0,4689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2779776"/>
            <a:ext cx="1371600" cy="384048"/>
          </a:xfrm>
          <a:prstGeom prst="rect">
            <a:avLst/>
          </a:prstGeom>
          <a:solidFill>
            <a:srgbClr val="EBE7D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0,4647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2779776"/>
            <a:ext cx="1371600" cy="384048"/>
          </a:xfrm>
          <a:prstGeom prst="rect">
            <a:avLst/>
          </a:prstGeom>
          <a:solidFill>
            <a:srgbClr val="EBE7D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1,6220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2779776"/>
            <a:ext cx="1371600" cy="384048"/>
          </a:xfrm>
          <a:prstGeom prst="rect">
            <a:avLst/>
          </a:prstGeom>
          <a:solidFill>
            <a:srgbClr val="EBE7D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0,03682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163824"/>
            <a:ext cx="2743200" cy="384048"/>
          </a:xfrm>
          <a:prstGeom prst="rect">
            <a:avLst/>
          </a:prstGeom>
          <a:solidFill>
            <a:srgbClr val="F5F0D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300xest_R01_L10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3163824"/>
            <a:ext cx="1371600" cy="384048"/>
          </a:xfrm>
          <a:prstGeom prst="rect">
            <a:avLst/>
          </a:prstGeom>
          <a:solidFill>
            <a:srgbClr val="F5F0D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1,1624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3163824"/>
            <a:ext cx="1371600" cy="384048"/>
          </a:xfrm>
          <a:prstGeom prst="rect">
            <a:avLst/>
          </a:prstGeom>
          <a:solidFill>
            <a:srgbClr val="F5F0D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0,4919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3163824"/>
            <a:ext cx="1371600" cy="384048"/>
          </a:xfrm>
          <a:prstGeom prst="rect">
            <a:avLst/>
          </a:prstGeom>
          <a:solidFill>
            <a:srgbClr val="F5F0D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0,4966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3163824"/>
            <a:ext cx="1371600" cy="384048"/>
          </a:xfrm>
          <a:prstGeom prst="rect">
            <a:avLst/>
          </a:prstGeom>
          <a:solidFill>
            <a:srgbClr val="F5F0D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1,6906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3163824"/>
            <a:ext cx="1371600" cy="384048"/>
          </a:xfrm>
          <a:prstGeom prst="rect">
            <a:avLst/>
          </a:prstGeom>
          <a:solidFill>
            <a:srgbClr val="F5F0D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0,02318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749039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>
                <a:solidFill>
                  <a:srgbClr val="4A6F1A"/>
                </a:solidFill>
              </a:rPr>
              <a:t>•  Error observacional promedio: 0,7556  (mejor entre todos)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4A6F1A"/>
                </a:solidFill>
              </a:rPr>
              <a:t>•  Residual Navier-Stokes: 0,01273  (máxima coherencia física)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0D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" y="652881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44444"/>
                </a:solidFill>
              </a:rPr>
              <a:t>S. A. Gómez Ardila  (Universidad Central)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52881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44444"/>
                </a:solidFill>
              </a:rPr>
              <a:t>Predicción PINN Meteorología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652881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444444"/>
                </a:solidFill>
              </a:rPr>
              <a:t>2026    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700">
                <a:solidFill>
                  <a:srgbClr val="FFFFFF"/>
                </a:solidFill>
              </a:rPr>
              <a:t>Resultados: Análisis de Convergencia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384048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FFFFFF"/>
                </a:solidFill>
              </a:rPr>
              <a:t>Ranking por error observacional promedio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81328"/>
            <a:ext cx="11430000" cy="1170432"/>
          </a:xfrm>
          <a:prstGeom prst="rect">
            <a:avLst/>
          </a:prstGeom>
          <a:solidFill>
            <a:srgbClr val="F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①  todos_R01_L5:    0,7556  (coherencia física: 0,01273)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②  300xest_R01_L5:  0,8187  (coherencia física: 0,03682)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③  300xest_R01_L10: 0,8267  (coherencia física: 0,02318)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</a:rPr>
              <a:t>Los gráficos de error absoluto temporal muestran que el modelo óptimo
(todos_R01_L5) mantiene errores más bajos y estables en u_x y u_y
a lo largo de las 300 horas del período de validación.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0D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" y="652881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44444"/>
                </a:solidFill>
              </a:rPr>
              <a:t>S. A. Gómez Ardila  (Universidad Central)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52881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44444"/>
                </a:solidFill>
              </a:rPr>
              <a:t>Predicción PINN Meteorología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52881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444444"/>
                </a:solidFill>
              </a:rPr>
              <a:t>2026    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700">
                <a:solidFill>
                  <a:srgbClr val="FFFFFF"/>
                </a:solidFill>
              </a:rPr>
              <a:t>Discusión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384048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FFFFFF"/>
                </a:solidFill>
              </a:rPr>
              <a:t>Logros principales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81328"/>
            <a:ext cx="11430000" cy="1170432"/>
          </a:xfrm>
          <a:prstGeom prst="rect">
            <a:avLst/>
          </a:prstGeom>
          <a:solidFill>
            <a:srgbClr val="F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• Integración exitosa de N-S con datos dispersos: R_NS = 0,01273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• Menor dependencia de datos: 300 muestras/est. vs. millones en ML convencional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• Coherencia física garantizada en extrapolación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834640"/>
            <a:ext cx="11430000" cy="384048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FFFFFF"/>
                </a:solidFill>
              </a:rPr>
              <a:t>Ventaja vs. métodos alternativos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218688"/>
            <a:ext cx="11430000" cy="1353312"/>
          </a:xfrm>
          <a:prstGeom prst="rect">
            <a:avLst/>
          </a:prstGeom>
          <a:solidFill>
            <a:srgbClr val="F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vs. NWP:          30% menor costo computacional, no requiere cond. iniciales precisas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vs. Estadísticos: Respeta leyes físicas, válido en eventos extremos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vs. ML puro:      Errores físicos reducidos, generalización mejorada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0D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44444"/>
                </a:solidFill>
              </a:rPr>
              <a:t>S. A. Gómez Ardila  (Universidad Central)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2881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44444"/>
                </a:solidFill>
              </a:rPr>
              <a:t>Predicción PINN Meteorología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52881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444444"/>
                </a:solidFill>
              </a:rPr>
              <a:t>2026    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700">
                <a:solidFill>
                  <a:srgbClr val="FFFFFF"/>
                </a:solidFill>
              </a:rPr>
              <a:t>Conclusiones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384048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FFFFFF"/>
                </a:solidFill>
              </a:rPr>
              <a:t>Contribuciones principales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81328"/>
            <a:ext cx="11430000" cy="1170432"/>
          </a:xfrm>
          <a:prstGeom prst="rect">
            <a:avLst/>
          </a:prstGeom>
          <a:solidFill>
            <a:srgbClr val="F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• Demostración exitosa de PINNs en reconstrucción meteorológica a escala local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• Metodología reproducible y escalable para regiones con datos dispersos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• Validación de coherencia física (R_NS = 0,01273) en modelos híbridos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834640"/>
            <a:ext cx="11430000" cy="384048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FFFFFF"/>
                </a:solidFill>
              </a:rPr>
              <a:t>Logro de objetivos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218688"/>
            <a:ext cx="11430000" cy="1170432"/>
          </a:xfrm>
          <a:prstGeom prst="rect">
            <a:avLst/>
          </a:prstGeom>
          <a:solidFill>
            <a:srgbClr val="F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[Org]    Organización y preprocesamiento: 16.368 registros de 18 estaciones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[Diseño] Diseño e implementación: PINN con restricciones N-S integradas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[Eval]   Evaluación: 9 experimentos con métricas reproducibles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0D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44444"/>
                </a:solidFill>
              </a:rPr>
              <a:t>S. A. Gómez Ardila  (Universidad Central)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2881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44444"/>
                </a:solidFill>
              </a:rPr>
              <a:t>Predicción PINN Meteorología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52881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444444"/>
                </a:solidFill>
              </a:rPr>
              <a:t>2026    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700">
                <a:solidFill>
                  <a:srgbClr val="FFFFFF"/>
                </a:solidFill>
              </a:rPr>
              <a:t>Trabajo Futuro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384048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FFFFFF"/>
                </a:solidFill>
              </a:rPr>
              <a:t>Extensiones inmediatas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81328"/>
            <a:ext cx="11430000" cy="1170432"/>
          </a:xfrm>
          <a:prstGeom prst="rect">
            <a:avLst/>
          </a:prstGeom>
          <a:solidFill>
            <a:srgbClr val="F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• Predicción temporal: transición de interpolación a pronóstico (t + Δt)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• Variables adicionales: humedad relativa, radiación solar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• Análisis de sensibilidad a resolución de malla (R más fina)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834640"/>
            <a:ext cx="11430000" cy="384048"/>
          </a:xfrm>
          <a:prstGeom prst="rect">
            <a:avLst/>
          </a:prstGeom>
          <a:solidFill>
            <a:srgbClr val="6B6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>
                <a:solidFill>
                  <a:srgbClr val="FFFFFF"/>
                </a:solidFill>
              </a:rPr>
              <a:t>Aplicaciones emergentes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218688"/>
            <a:ext cx="11430000" cy="1170432"/>
          </a:xfrm>
          <a:prstGeom prst="rect">
            <a:avLst/>
          </a:prstGeom>
          <a:solidFill>
            <a:srgbClr val="F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• Extensión a otras regiones oceanográficas (Pacífico colombiano, cuencas andinas)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• Acoplamiento con modelos de dispersión de contaminantes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000000"/>
                </a:solidFill>
              </a:rPr>
              <a:t>• Integración en sistemas operativos de monitoreo ambiental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0D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2881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44444"/>
                </a:solidFill>
              </a:rPr>
              <a:t>S. A. Gómez Ardila  (Universidad Central)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2881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44444"/>
                </a:solidFill>
              </a:rPr>
              <a:t>Predicción PINN Meteorología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52881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444444"/>
                </a:solidFill>
              </a:rPr>
              <a:t>2026    18 /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000000"/>
                </a:solidFill>
              </a:rPr>
              <a:t>Gracias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0D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652881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44444"/>
                </a:solidFill>
              </a:rPr>
              <a:t>S. A. Gómez Ardila  (Universidad Central)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52881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44444"/>
                </a:solidFill>
              </a:rPr>
              <a:t>Predicción PINN Meteorología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